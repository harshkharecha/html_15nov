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JetBrains Mono" panose="02000009000000000000" pitchFamily="49" charset="0"/>
      <p:regular r:id="rId7"/>
      <p:bold r:id="rId8"/>
      <p:italic r:id="rId9"/>
      <p:boldItalic r:id="rId10"/>
    </p:embeddedFont>
    <p:embeddedFont>
      <p:font typeface="Plus Jakarta Sans" pitchFamily="2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A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8" d="100"/>
          <a:sy n="98" d="100"/>
        </p:scale>
        <p:origin x="228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320480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756469"/>
            <a:ext cx="2143125" cy="285750"/>
          </a:xfrm>
          <a:prstGeom prst="roundRect">
            <a:avLst>
              <a:gd name="adj" fmla="val 50000"/>
            </a:avLst>
          </a:prstGeom>
          <a:solidFill>
            <a:srgbClr val="0F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43900" y="4725292"/>
            <a:ext cx="1028700" cy="323850"/>
          </a:xfrm>
          <a:prstGeom prst="roundRect">
            <a:avLst>
              <a:gd name="adj" fmla="val 2352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525000" y="4725292"/>
            <a:ext cx="1028700" cy="323850"/>
          </a:xfrm>
          <a:prstGeom prst="roundRect">
            <a:avLst>
              <a:gd name="adj" fmla="val 2352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706100" y="4725292"/>
            <a:ext cx="876300" cy="323850"/>
          </a:xfrm>
          <a:prstGeom prst="roundRect">
            <a:avLst>
              <a:gd name="adj" fmla="val 2352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2270819"/>
            <a:ext cx="9101137" cy="118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sz="4050" b="1" i="0" u="none">
                <a:solidFill>
                  <a:srgbClr val="FFFFFF"/>
                </a:solidFill>
                <a:latin typeface="Plus Jakarta Sans"/>
              </a:rPr>
              <a:t>Debugging 101: Surviving Real-World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644205"/>
            <a:ext cx="383381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EA5E9"/>
                </a:solidFill>
                <a:latin typeface="JetBrains Mono"/>
              </a:rPr>
              <a:t>From Frustration to 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813619"/>
            <a:ext cx="19335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TECHNICAL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7025" y="1813619"/>
            <a:ext cx="361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57525" y="1813619"/>
            <a:ext cx="13239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5–7 Min Duration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672905"/>
            <a:ext cx="3309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SPEAKER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882455"/>
            <a:ext cx="3309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Plus Jakarta Sans"/>
              </a:rPr>
              <a:t>Web Architecture &amp;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0" y="4801492"/>
            <a:ext cx="857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JetBrains Mono"/>
              </a:rPr>
              <a:t>HTML / 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4801492"/>
            <a:ext cx="857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JetBrains Mono"/>
              </a:rPr>
              <a:t>JavaScript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9450" y="4801492"/>
            <a:ext cx="7048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JetBrains Mono"/>
              </a:rPr>
              <a:t>React.js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457325"/>
            <a:ext cx="10972800" cy="8477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457325"/>
            <a:ext cx="38100" cy="84772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842444"/>
            <a:ext cx="3289250" cy="1611510"/>
          </a:xfrm>
          <a:prstGeom prst="roundRect">
            <a:avLst>
              <a:gd name="adj" fmla="val 7092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451300" y="3842444"/>
            <a:ext cx="3289250" cy="1611510"/>
          </a:xfrm>
          <a:prstGeom prst="roundRect">
            <a:avLst>
              <a:gd name="adj" fmla="val 7092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93000" y="3842444"/>
            <a:ext cx="3289250" cy="1611510"/>
          </a:xfrm>
          <a:prstGeom prst="roundRect">
            <a:avLst>
              <a:gd name="adj" fmla="val 7092"/>
            </a:avLst>
          </a:prstGeom>
          <a:solidFill>
            <a:srgbClr val="F0FDF4"/>
          </a:solidFill>
          <a:ln w="9525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74925" y="4137719"/>
            <a:ext cx="685800" cy="219075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797575" y="4137719"/>
            <a:ext cx="704850" cy="219075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639276" y="4137719"/>
            <a:ext cx="704850" cy="219075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350" y="4567237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050" y="4567237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128194"/>
            <a:ext cx="2667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9425" y="4128194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125" y="4128194"/>
            <a:ext cx="266700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264795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lus Jakarta Sans"/>
              </a:rPr>
              <a:t>EMOTIONAL REACTION PROGRESSION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533400"/>
            <a:ext cx="715327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EA5E9"/>
                </a:solidFill>
                <a:latin typeface="Plus Jakarta Sans"/>
              </a:rPr>
              <a:t>Slide 02 / Mindset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96475" y="557212"/>
            <a:ext cx="1685925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3300" b="1" u="none" dirty="0">
                <a:solidFill>
                  <a:srgbClr val="0EA5E9"/>
                </a:solidFill>
                <a:latin typeface="Plus Jakarta Sans"/>
              </a:rPr>
              <a:t>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1647825"/>
            <a:ext cx="113157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1" u="none">
                <a:solidFill>
                  <a:srgbClr val="1E293B"/>
                </a:solidFill>
                <a:latin typeface="Plus Jakarta Sans"/>
              </a:rPr>
              <a:t>"Bugs are just undocumented features waiting to be fixed."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1943100"/>
            <a:ext cx="113157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Errors are normal engineering signals, not signs of developer failure.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771525"/>
            <a:ext cx="9263657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The Reality Check — Errors Happen to Everyone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94056" y="1033462"/>
            <a:ext cx="198834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1" i="0" u="none" dirty="0">
                <a:solidFill>
                  <a:srgbClr val="64748B"/>
                </a:solidFill>
                <a:latin typeface="Plus Jakarta Sans"/>
              </a:rPr>
              <a:t>DEV TIME ON DEBUGGING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4528244"/>
            <a:ext cx="369206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91B1B"/>
                </a:solidFill>
                <a:latin typeface="Plus Jakarta Sans"/>
              </a:rPr>
              <a:t>Panic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4842569"/>
            <a:ext cx="29082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7F1D1D"/>
                </a:solidFill>
                <a:latin typeface="Plus Jakarta Sans"/>
              </a:rPr>
              <a:t>Red screens &amp; stack traces feel terrifying to beginners.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9425" y="4528244"/>
            <a:ext cx="369206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2400E"/>
                </a:solidFill>
                <a:latin typeface="Plus Jakarta Sans"/>
              </a:rPr>
              <a:t>Confusion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9425" y="4842569"/>
            <a:ext cx="29082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78350F"/>
                </a:solidFill>
                <a:latin typeface="Plus Jakarta Sans"/>
              </a:rPr>
              <a:t>Questioning code logic and searching for fault origins.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1125" y="4528244"/>
            <a:ext cx="36608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65F46"/>
                </a:solidFill>
                <a:latin typeface="Plus Jakarta Sans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1125" y="4842569"/>
            <a:ext cx="29082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064E3B"/>
                </a:solidFill>
                <a:latin typeface="Plus Jakarta Sans"/>
              </a:rPr>
              <a:t>Reading exceptions as clues to systematically isolate bugs.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51125" y="4175819"/>
            <a:ext cx="628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EF4444"/>
                </a:solidFill>
                <a:latin typeface="Plus Jakarta Sans"/>
              </a:rPr>
              <a:t>STAGE 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3775" y="4175819"/>
            <a:ext cx="647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D97706"/>
                </a:solidFill>
                <a:latin typeface="Plus Jakarta Sans"/>
              </a:rPr>
              <a:t>STAGE 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15476" y="4175819"/>
            <a:ext cx="647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59669"/>
                </a:solidFill>
                <a:latin typeface="Plus Jakarta Sans"/>
              </a:rPr>
              <a:t>STAGE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57325"/>
            <a:ext cx="3505200" cy="4867275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343400" y="1457325"/>
            <a:ext cx="3505200" cy="4867275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1457325"/>
            <a:ext cx="3505200" cy="4867275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885825" y="5667375"/>
            <a:ext cx="2952750" cy="381000"/>
          </a:xfrm>
          <a:prstGeom prst="roundRect">
            <a:avLst>
              <a:gd name="adj" fmla="val 3333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19625" y="5514975"/>
            <a:ext cx="2952750" cy="533400"/>
          </a:xfrm>
          <a:prstGeom prst="roundRect">
            <a:avLst>
              <a:gd name="adj" fmla="val 1428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53425" y="5667375"/>
            <a:ext cx="2952750" cy="3810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738312"/>
            <a:ext cx="1714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25" y="1738312"/>
            <a:ext cx="1714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625" y="1733550"/>
            <a:ext cx="238125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425" y="1738312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1106805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EA5E9"/>
                </a:solidFill>
                <a:latin typeface="Plus Jakarta Sans"/>
              </a:rPr>
              <a:t>Slide 03 / Pitfalls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Common Culprits across HTML, CSS, JS &amp; React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3925" y="5629275"/>
            <a:ext cx="2819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F87171"/>
                </a:solidFill>
                <a:latin typeface="JetBrains Mono"/>
              </a:rPr>
              <a:t>Uncaught </a:t>
            </a:r>
            <a:r>
              <a:rPr sz="900" b="0" i="0" u="none" dirty="0" err="1">
                <a:solidFill>
                  <a:srgbClr val="F87171"/>
                </a:solidFill>
                <a:latin typeface="JetBrains Mono"/>
              </a:rPr>
              <a:t>TypeError</a:t>
            </a:r>
            <a:r>
              <a:rPr sz="900" b="0" i="0" u="none" dirty="0">
                <a:solidFill>
                  <a:srgbClr val="F87171"/>
                </a:solidFill>
                <a:latin typeface="JetBrains Mono"/>
              </a:rPr>
              <a:t>: user.name is undefined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725" y="5781675"/>
            <a:ext cx="2819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FBBF24"/>
                </a:solidFill>
                <a:latin typeface="JetBrains Mono"/>
              </a:rPr>
              <a:t>Too many re-renders. Exceeded max depth.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2124075"/>
            <a:ext cx="169277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EA5E9"/>
                </a:solidFill>
                <a:latin typeface="Plus Jakarta Sans"/>
              </a:rPr>
              <a:t>LAYOUT &amp; SYNTAX TRAPS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9625" y="2152650"/>
            <a:ext cx="194123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EA5E9"/>
                </a:solidFill>
                <a:latin typeface="Plus Jakarta Sans"/>
              </a:rPr>
              <a:t>ASYNC &amp; REFERENCE FAULTS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2124075"/>
            <a:ext cx="214481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EA5E9"/>
                </a:solidFill>
                <a:latin typeface="Plus Jakarta Sans"/>
              </a:rPr>
              <a:t>STATE &amp; LIFECYCLE VIOLATIONS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9225" y="1733550"/>
            <a:ext cx="15001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HTML &amp; CSS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2409825"/>
            <a:ext cx="2632131" cy="1919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 dirty="0">
                <a:solidFill>
                  <a:srgbClr val="EF4444"/>
                </a:solidFill>
                <a:latin typeface="Plus Jakarta Sans"/>
              </a:rPr>
              <a:t>• </a:t>
            </a:r>
            <a:r>
              <a:rPr sz="1050" b="0" i="0" u="none" dirty="0">
                <a:latin typeface="Plus Jakarta Sans"/>
              </a:rPr>
              <a:t>Unclosed tags breaking DOM structures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2718345"/>
            <a:ext cx="2592056" cy="1919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 dirty="0">
                <a:solidFill>
                  <a:srgbClr val="EF4444"/>
                </a:solidFill>
                <a:latin typeface="Plus Jakarta Sans"/>
              </a:rPr>
              <a:t>• </a:t>
            </a:r>
            <a:r>
              <a:rPr sz="1050" b="0" i="0" u="none" dirty="0">
                <a:latin typeface="Plus Jakarta Sans"/>
              </a:rPr>
              <a:t>Specificity wars overriding target styles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3026866"/>
            <a:ext cx="2582438" cy="1919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 dirty="0">
                <a:solidFill>
                  <a:srgbClr val="EF4444"/>
                </a:solidFill>
                <a:latin typeface="Plus Jakarta Sans"/>
              </a:rPr>
              <a:t>• </a:t>
            </a:r>
            <a:r>
              <a:rPr sz="1050" b="0" i="0" u="none" dirty="0">
                <a:latin typeface="Plus Jakarta Sans"/>
              </a:rPr>
              <a:t>Overflow and flex/grid layout collapses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3000" y="1747837"/>
            <a:ext cx="131016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JavaScript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9625" y="2438400"/>
            <a:ext cx="2430152" cy="1919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 dirty="0">
                <a:solidFill>
                  <a:srgbClr val="EF4444"/>
                </a:solidFill>
                <a:latin typeface="Plus Jakarta Sans"/>
              </a:rPr>
              <a:t>• </a:t>
            </a:r>
            <a:r>
              <a:rPr sz="1050" b="0" i="0" u="none" dirty="0">
                <a:latin typeface="Plus Jakarta Sans"/>
              </a:rPr>
              <a:t>Cannot read properties of undefined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9625" y="2746920"/>
            <a:ext cx="2899833" cy="1919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 dirty="0">
                <a:solidFill>
                  <a:srgbClr val="EF4444"/>
                </a:solidFill>
                <a:latin typeface="Plus Jakarta Sans"/>
              </a:rPr>
              <a:t>• </a:t>
            </a:r>
            <a:r>
              <a:rPr sz="1050" b="0" i="0" u="none" dirty="0">
                <a:latin typeface="Plus Jakarta Sans"/>
              </a:rPr>
              <a:t>Reading API responses prior to fetch resolve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9625" y="3055441"/>
            <a:ext cx="1923604" cy="1919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 dirty="0">
                <a:solidFill>
                  <a:srgbClr val="EF4444"/>
                </a:solidFill>
                <a:latin typeface="Plus Jakarta Sans"/>
              </a:rPr>
              <a:t>• </a:t>
            </a:r>
            <a:r>
              <a:rPr sz="1050" b="0" i="0" u="none" dirty="0" err="1">
                <a:latin typeface="Plus Jakarta Sans"/>
              </a:rPr>
              <a:t>TypeError</a:t>
            </a:r>
            <a:r>
              <a:rPr sz="1050" b="0" i="0" u="none" dirty="0">
                <a:latin typeface="Plus Jakarta Sans"/>
              </a:rPr>
              <a:t>: </a:t>
            </a:r>
            <a:r>
              <a:rPr sz="1050" b="0" i="0" u="none" dirty="0" err="1">
                <a:latin typeface="Plus Jakarta Sans"/>
              </a:rPr>
              <a:t>fn</a:t>
            </a:r>
            <a:r>
              <a:rPr sz="1050" b="0" i="0" u="none" dirty="0">
                <a:latin typeface="Plus Jakarta Sans"/>
              </a:rPr>
              <a:t> is not a function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77275" y="1733550"/>
            <a:ext cx="109013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React.js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3425" y="2409825"/>
            <a:ext cx="2869375" cy="1919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 dirty="0">
                <a:solidFill>
                  <a:srgbClr val="EF4444"/>
                </a:solidFill>
                <a:latin typeface="Plus Jakarta Sans"/>
              </a:rPr>
              <a:t>• </a:t>
            </a:r>
            <a:r>
              <a:rPr sz="1050" b="0" i="0" u="none" dirty="0">
                <a:latin typeface="Plus Jakarta Sans"/>
              </a:rPr>
              <a:t>Infinite render loops via unguarded </a:t>
            </a:r>
            <a:r>
              <a:rPr sz="1050" b="0" i="0" u="none" dirty="0" err="1">
                <a:latin typeface="Plus Jakarta Sans"/>
              </a:rPr>
              <a:t>setState</a:t>
            </a:r>
            <a:endParaRPr sz="1050" b="0" i="0" u="none" dirty="0"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53425" y="2718345"/>
            <a:ext cx="2098331" cy="1919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 dirty="0">
                <a:solidFill>
                  <a:srgbClr val="EF4444"/>
                </a:solidFill>
                <a:latin typeface="Plus Jakarta Sans"/>
              </a:rPr>
              <a:t>• </a:t>
            </a:r>
            <a:r>
              <a:rPr sz="1050" b="0" i="0" u="none" dirty="0">
                <a:latin typeface="Plus Jakarta Sans"/>
              </a:rPr>
              <a:t>Rules of Hooks conditional calls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3425" y="3026866"/>
            <a:ext cx="2402902" cy="1919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 dirty="0">
                <a:solidFill>
                  <a:srgbClr val="EF4444"/>
                </a:solidFill>
                <a:latin typeface="Plus Jakarta Sans"/>
              </a:rPr>
              <a:t>• </a:t>
            </a:r>
            <a:r>
              <a:rPr sz="1050" b="0" i="0" u="none" dirty="0">
                <a:latin typeface="Plus Jakarta Sans"/>
              </a:rPr>
              <a:t>Stale state closures inside </a:t>
            </a:r>
            <a:r>
              <a:rPr sz="1050" b="0" i="0" u="none" dirty="0" err="1">
                <a:latin typeface="Plus Jakarta Sans"/>
              </a:rPr>
              <a:t>useEffect</a:t>
            </a:r>
            <a:endParaRPr sz="1050" b="0" i="0" u="none" dirty="0">
              <a:latin typeface="Plus Jakarta San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FC89B0-7671-EF67-A76F-3ABC8EEBFBD4}"/>
              </a:ext>
            </a:extLst>
          </p:cNvPr>
          <p:cNvSpPr txBox="1"/>
          <p:nvPr/>
        </p:nvSpPr>
        <p:spPr>
          <a:xfrm>
            <a:off x="1019175" y="5807675"/>
            <a:ext cx="2819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900" dirty="0">
                <a:solidFill>
                  <a:schemeClr val="accent1">
                    <a:lumMod val="20000"/>
                    <a:lumOff val="80000"/>
                  </a:schemeClr>
                </a:solidFill>
                <a:latin typeface="JetBrains Mono"/>
              </a:rPr>
              <a:t>&lt;div class="card"&gt;</a:t>
            </a:r>
            <a:r>
              <a:rPr lang="en-US" sz="900" dirty="0">
                <a:solidFill>
                  <a:srgbClr val="F87171"/>
                </a:solidFill>
                <a:latin typeface="JetBrains Mono"/>
              </a:rPr>
              <a:t>  &lt;!-- Unclosed --&gt;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53915"/>
            <a:ext cx="2586037" cy="1022746"/>
          </a:xfrm>
          <a:prstGeom prst="roundRect">
            <a:avLst>
              <a:gd name="adj" fmla="val 93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48037" y="2753915"/>
            <a:ext cx="2586037" cy="1022746"/>
          </a:xfrm>
          <a:prstGeom prst="roundRect">
            <a:avLst>
              <a:gd name="adj" fmla="val 93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29062"/>
            <a:ext cx="2586037" cy="1022746"/>
          </a:xfrm>
          <a:prstGeom prst="roundRect">
            <a:avLst>
              <a:gd name="adj" fmla="val 93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348037" y="3929062"/>
            <a:ext cx="2586037" cy="1022746"/>
          </a:xfrm>
          <a:prstGeom prst="roundRect">
            <a:avLst>
              <a:gd name="adj" fmla="val 93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2328862"/>
            <a:ext cx="5343525" cy="304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338387"/>
            <a:ext cx="5324475" cy="3028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2968228"/>
            <a:ext cx="1905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8062" y="2968228"/>
            <a:ext cx="219075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4143375"/>
            <a:ext cx="1905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8062" y="4143375"/>
            <a:ext cx="17145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1106805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EA5E9"/>
                </a:solidFill>
                <a:latin typeface="Plus Jakarta Sans"/>
              </a:rPr>
              <a:t>Slide 04 /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My Go-To Debugging Toolkit &amp;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230165"/>
            <a:ext cx="2281237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Target stack trace line numbers and read top-to-bottom.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8062" y="3230165"/>
            <a:ext cx="2281237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Inspect variable states at specific execution moments.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4405312"/>
            <a:ext cx="2281237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Toggle CSS rules and inspect active DOM tree hierarchy live.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8062" y="4405312"/>
            <a:ext cx="2281237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Verify real-time component props and state trees.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375" y="2953940"/>
            <a:ext cx="156269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a. Read Console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62387" y="2953940"/>
            <a:ext cx="166270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b. Strategic Logs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5375" y="4129087"/>
            <a:ext cx="153769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c. Elements Tab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4762" y="4129087"/>
            <a:ext cx="176272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d. React DevTools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047875" y="2590800"/>
            <a:ext cx="8096250" cy="1638300"/>
          </a:xfrm>
          <a:prstGeom prst="roundRect">
            <a:avLst>
              <a:gd name="adj" fmla="val 9302"/>
            </a:avLst>
          </a:prstGeom>
          <a:solidFill>
            <a:srgbClr val="1A2436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43487" y="3629025"/>
            <a:ext cx="2105025" cy="285750"/>
          </a:xfrm>
          <a:prstGeom prst="roundRect">
            <a:avLst>
              <a:gd name="adj" fmla="val 50000"/>
            </a:avLst>
          </a:prstGeom>
          <a:solidFill>
            <a:srgbClr val="18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70859" y="1619250"/>
            <a:ext cx="22502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Plus Jakarta Sans"/>
              </a:rPr>
              <a:t>SLIDE 05 /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6860" y="1905000"/>
            <a:ext cx="6238279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 i="0" u="none">
                <a:solidFill>
                  <a:srgbClr val="FFFFFF"/>
                </a:solidFill>
                <a:latin typeface="Plus Jakarta Sans"/>
              </a:rPr>
              <a:t>Turning Bugs into Lessons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8132" y="4610100"/>
            <a:ext cx="5875734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38BDF8"/>
                </a:solidFill>
                <a:latin typeface="Plus Jakarta Sans"/>
              </a:rPr>
              <a:t>Thank You! 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8734" y="5019675"/>
            <a:ext cx="577453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94A3B8"/>
                </a:solidFill>
                <a:latin typeface="Plus Jakarta Sans"/>
              </a:rPr>
              <a:t>"What is the most annoying bug you’ve ever had to solve?"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5099" y="2886075"/>
            <a:ext cx="67818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>
                <a:solidFill>
                  <a:srgbClr val="E2E8F0"/>
                </a:solidFill>
                <a:latin typeface="Plus Jakarta Sans"/>
              </a:rPr>
              <a:t>Debugging isn’t a roadblock—it’s the fastest way to learn. Every solved bug builds a deeper understanding of web engines.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3709" y="3686175"/>
            <a:ext cx="2364581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Plus Jakarta Sans"/>
              </a:rPr>
              <a:t>Embrace Exceptions as Clues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344</Words>
  <Application>Microsoft Office PowerPoint</Application>
  <PresentationFormat>Widescreen</PresentationFormat>
  <Paragraphs>62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Plus Jakarta Sans</vt:lpstr>
      <vt:lpstr>JetBrains Mono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 S kharecha</cp:lastModifiedBy>
  <cp:revision>2</cp:revision>
  <dcterms:created xsi:type="dcterms:W3CDTF">2013-01-27T09:14:16Z</dcterms:created>
  <dcterms:modified xsi:type="dcterms:W3CDTF">2026-10-23T20:17:28Z</dcterms:modified>
  <cp:category/>
</cp:coreProperties>
</file>